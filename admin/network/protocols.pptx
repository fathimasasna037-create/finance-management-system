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25"/>
  </p:notesMasterIdLst>
  <p:sldIdLst>
    <p:sldId id="256" r:id="rId2"/>
    <p:sldId id="336" r:id="rId3"/>
    <p:sldId id="337" r:id="rId4"/>
    <p:sldId id="318" r:id="rId5"/>
    <p:sldId id="319" r:id="rId6"/>
    <p:sldId id="320" r:id="rId7"/>
    <p:sldId id="310" r:id="rId8"/>
    <p:sldId id="321" r:id="rId9"/>
    <p:sldId id="352" r:id="rId10"/>
    <p:sldId id="324" r:id="rId11"/>
    <p:sldId id="341" r:id="rId12"/>
    <p:sldId id="329" r:id="rId13"/>
    <p:sldId id="332" r:id="rId14"/>
    <p:sldId id="334" r:id="rId15"/>
    <p:sldId id="309" r:id="rId16"/>
    <p:sldId id="343" r:id="rId17"/>
    <p:sldId id="338" r:id="rId18"/>
    <p:sldId id="339" r:id="rId19"/>
    <p:sldId id="342" r:id="rId20"/>
    <p:sldId id="353" r:id="rId21"/>
    <p:sldId id="354" r:id="rId22"/>
    <p:sldId id="340" r:id="rId23"/>
    <p:sldId id="344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951" autoAdjust="0"/>
  </p:normalViewPr>
  <p:slideViewPr>
    <p:cSldViewPr>
      <p:cViewPr varScale="1">
        <p:scale>
          <a:sx n="65" d="100"/>
          <a:sy n="65" d="100"/>
        </p:scale>
        <p:origin x="145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32D0FC-9588-47A1-A392-55FDA0A8E306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16188-20B1-4558-931A-56A1C6FE77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25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client/server protocol in which e-mail is received and held for you by your Internet server.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316188-20B1-4558-931A-56A1C6FE7741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169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50B43-18D8-4714-A1B8-87C6BC56DE38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6EF74-EBF3-448B-B154-297B08B9BA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81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50B43-18D8-4714-A1B8-87C6BC56DE38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6EF74-EBF3-448B-B154-297B08B9BA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9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50B43-18D8-4714-A1B8-87C6BC56DE38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6EF74-EBF3-448B-B154-297B08B9BA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28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50B43-18D8-4714-A1B8-87C6BC56DE38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6EF74-EBF3-448B-B154-297B08B9BA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09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50B43-18D8-4714-A1B8-87C6BC56DE38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6EF74-EBF3-448B-B154-297B08B9BA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020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50B43-18D8-4714-A1B8-87C6BC56DE38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6EF74-EBF3-448B-B154-297B08B9BA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03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50B43-18D8-4714-A1B8-87C6BC56DE38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6EF74-EBF3-448B-B154-297B08B9BA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526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50B43-18D8-4714-A1B8-87C6BC56DE38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6EF74-EBF3-448B-B154-297B08B9BA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523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50B43-18D8-4714-A1B8-87C6BC56DE38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6EF74-EBF3-448B-B154-297B08B9BA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196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50B43-18D8-4714-A1B8-87C6BC56DE38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6EF74-EBF3-448B-B154-297B08B9BA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428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50B43-18D8-4714-A1B8-87C6BC56DE38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6EF74-EBF3-448B-B154-297B08B9BA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629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150B43-18D8-4714-A1B8-87C6BC56DE38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6EF74-EBF3-448B-B154-297B08B9BA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30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Network Protocols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2600" y="4572000"/>
            <a:ext cx="6492240" cy="1752600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41313"/>
            <a:ext cx="8229600" cy="1143000"/>
          </a:xfrm>
        </p:spPr>
        <p:txBody>
          <a:bodyPr/>
          <a:lstStyle/>
          <a:p>
            <a:r>
              <a:rPr lang="en-US" altLang="en-US" dirty="0"/>
              <a:t>Protocols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229600" cy="4221163"/>
          </a:xfrm>
        </p:spPr>
        <p:txBody>
          <a:bodyPr>
            <a:normAutofit/>
          </a:bodyPr>
          <a:lstStyle/>
          <a:p>
            <a:r>
              <a:rPr lang="en-US" altLang="en-US" dirty="0"/>
              <a:t>In order for computers to communicate with one another, they must agree on a set of rules for who says what, when they say it, and what format they say it in</a:t>
            </a:r>
          </a:p>
          <a:p>
            <a:r>
              <a:rPr lang="en-US" altLang="en-US" dirty="0"/>
              <a:t>This set of rules is a </a:t>
            </a:r>
            <a:r>
              <a:rPr lang="en-US" altLang="en-US" dirty="0">
                <a:solidFill>
                  <a:schemeClr val="tx2"/>
                </a:solidFill>
              </a:rPr>
              <a:t>protocol</a:t>
            </a:r>
            <a:endParaRPr lang="en-US" altLang="en-US" dirty="0"/>
          </a:p>
          <a:p>
            <a:r>
              <a:rPr lang="en-US" altLang="en-US" dirty="0"/>
              <a:t>Different programs can use different protocols</a:t>
            </a:r>
          </a:p>
          <a:p>
            <a:r>
              <a:rPr lang="en-US" altLang="en-US" dirty="0"/>
              <a:t>Protocols may be in ASCII (characters) or in binary</a:t>
            </a:r>
          </a:p>
          <a:p>
            <a:r>
              <a:rPr lang="en-US" altLang="en-US" dirty="0"/>
              <a:t>Some common protocols are </a:t>
            </a:r>
            <a:r>
              <a:rPr lang="en-US" altLang="en-US" dirty="0">
                <a:solidFill>
                  <a:schemeClr val="tx2"/>
                </a:solidFill>
              </a:rPr>
              <a:t>HTTP</a:t>
            </a:r>
            <a:r>
              <a:rPr lang="en-US" altLang="en-US" dirty="0"/>
              <a:t> (for web pages), </a:t>
            </a:r>
            <a:r>
              <a:rPr lang="en-US" altLang="en-US" dirty="0">
                <a:solidFill>
                  <a:schemeClr val="tx2"/>
                </a:solidFill>
              </a:rPr>
              <a:t>FTP</a:t>
            </a:r>
            <a:r>
              <a:rPr lang="en-US" altLang="en-US" dirty="0"/>
              <a:t> (for file transfer), and </a:t>
            </a:r>
            <a:r>
              <a:rPr lang="en-US" altLang="en-US" dirty="0">
                <a:solidFill>
                  <a:schemeClr val="tx2"/>
                </a:solidFill>
              </a:rPr>
              <a:t>SMTP</a:t>
            </a:r>
            <a:r>
              <a:rPr lang="en-US" altLang="en-US" dirty="0"/>
              <a:t> (Simple Mail Transfer Protocol)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B467A-4C7C-4D6E-A37A-FAD33796822D}" type="slidenum">
              <a:rPr lang="en-US" altLang="en-US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7494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382000" cy="1143000"/>
          </a:xfrm>
        </p:spPr>
        <p:txBody>
          <a:bodyPr/>
          <a:lstStyle/>
          <a:p>
            <a:r>
              <a:rPr lang="en-US" altLang="en-US" dirty="0"/>
              <a:t>TCP/IP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371600"/>
            <a:ext cx="8534400" cy="5486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The Internet (and most other computer networks)  are connected through </a:t>
            </a:r>
            <a:r>
              <a:rPr lang="en-US" altLang="en-US" dirty="0">
                <a:solidFill>
                  <a:schemeClr val="tx2"/>
                </a:solidFill>
              </a:rPr>
              <a:t>TCP/IP</a:t>
            </a:r>
            <a:r>
              <a:rPr lang="en-US" altLang="en-US" dirty="0"/>
              <a:t> networks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TCP/IP is actually a combination of two protocols: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chemeClr val="tx2"/>
                </a:solidFill>
              </a:rPr>
              <a:t>IP</a:t>
            </a:r>
            <a:r>
              <a:rPr lang="en-US" altLang="en-US" dirty="0"/>
              <a:t>, </a:t>
            </a:r>
            <a:r>
              <a:rPr lang="en-US" altLang="en-US" dirty="0">
                <a:solidFill>
                  <a:schemeClr val="tx2"/>
                </a:solidFill>
              </a:rPr>
              <a:t>Internet Protocol</a:t>
            </a:r>
            <a:r>
              <a:rPr lang="en-US" altLang="en-US" dirty="0"/>
              <a:t>, is used to move </a:t>
            </a:r>
            <a:r>
              <a:rPr lang="en-US" altLang="en-US" dirty="0">
                <a:solidFill>
                  <a:schemeClr val="tx2"/>
                </a:solidFill>
              </a:rPr>
              <a:t>packets</a:t>
            </a:r>
            <a:r>
              <a:rPr lang="en-US" altLang="en-US" dirty="0"/>
              <a:t> (chunks) of data from one place to another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Places are specified by </a:t>
            </a:r>
            <a:r>
              <a:rPr lang="en-US" altLang="en-US" dirty="0">
                <a:solidFill>
                  <a:schemeClr val="tx2"/>
                </a:solidFill>
              </a:rPr>
              <a:t>IP addresses</a:t>
            </a:r>
            <a:r>
              <a:rPr lang="en-US" altLang="en-US" dirty="0"/>
              <a:t>: four single-byte (0..255) numbers separated by periods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Example: </a:t>
            </a:r>
            <a:r>
              <a:rPr lang="en-US" altLang="en-US" dirty="0">
                <a:solidFill>
                  <a:schemeClr val="accent2"/>
                </a:solidFill>
                <a:latin typeface="Trebuchet MS" panose="020B0603020202020204" pitchFamily="34" charset="0"/>
              </a:rPr>
              <a:t>192.168.1.1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chemeClr val="tx2"/>
                </a:solidFill>
              </a:rPr>
              <a:t>TCP</a:t>
            </a:r>
            <a:r>
              <a:rPr lang="en-US" altLang="en-US" dirty="0"/>
              <a:t>, </a:t>
            </a:r>
            <a:r>
              <a:rPr lang="en-US" altLang="en-US" dirty="0">
                <a:solidFill>
                  <a:schemeClr val="tx2"/>
                </a:solidFill>
              </a:rPr>
              <a:t>Transmission Control Protocol</a:t>
            </a:r>
            <a:r>
              <a:rPr lang="en-US" altLang="en-US" dirty="0"/>
              <a:t>, ensures that all necessary packets are present, and puts them together in the correct order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TCP/IP forms a “wrapper” around data of </a:t>
            </a:r>
            <a:r>
              <a:rPr lang="en-US" altLang="en-US" i="1" dirty="0"/>
              <a:t>any</a:t>
            </a:r>
            <a:r>
              <a:rPr lang="en-US" altLang="en-US" dirty="0"/>
              <a:t> kind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The data uses its own protocol, for example, FTP</a:t>
            </a:r>
          </a:p>
        </p:txBody>
      </p:sp>
    </p:spTree>
    <p:extLst>
      <p:ext uri="{BB962C8B-B14F-4D97-AF65-F5344CB8AC3E}">
        <p14:creationId xmlns:p14="http://schemas.microsoft.com/office/powerpoint/2010/main" val="3531021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altLang="en-US" dirty="0"/>
              <a:t>TCP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altLang="en-US"/>
              <a:t>TCP (Transmission Control Protocol)</a:t>
            </a:r>
          </a:p>
          <a:p>
            <a:pPr lvl="1"/>
            <a:r>
              <a:rPr lang="en-US" altLang="en-US"/>
              <a:t>Datagrams</a:t>
            </a:r>
          </a:p>
          <a:p>
            <a:pPr lvl="1"/>
            <a:r>
              <a:rPr lang="en-US" altLang="en-US"/>
              <a:t>Connection Oriented</a:t>
            </a:r>
          </a:p>
          <a:p>
            <a:pPr lvl="1"/>
            <a:r>
              <a:rPr lang="en-US" altLang="en-US"/>
              <a:t>End to End error checking</a:t>
            </a:r>
          </a:p>
          <a:p>
            <a:pPr lvl="1"/>
            <a:r>
              <a:rPr lang="en-US" altLang="en-US"/>
              <a:t>Source Port, Destination Port</a:t>
            </a:r>
          </a:p>
          <a:p>
            <a:pPr lvl="2"/>
            <a:r>
              <a:rPr lang="en-US" altLang="en-US"/>
              <a:t>Sockets, Well Known Ports</a:t>
            </a:r>
          </a:p>
          <a:p>
            <a:pPr lvl="1"/>
            <a:r>
              <a:rPr lang="en-US" altLang="en-US"/>
              <a:t>HTTP, SMTP, TELNET,FTP</a:t>
            </a:r>
          </a:p>
        </p:txBody>
      </p:sp>
    </p:spTree>
    <p:extLst>
      <p:ext uri="{BB962C8B-B14F-4D97-AF65-F5344CB8AC3E}">
        <p14:creationId xmlns:p14="http://schemas.microsoft.com/office/powerpoint/2010/main" val="2136228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altLang="en-US"/>
              <a:t>UDP (user datagram protocol)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altLang="en-US"/>
              <a:t>Connectionless</a:t>
            </a:r>
          </a:p>
          <a:p>
            <a:r>
              <a:rPr lang="en-US" altLang="en-US"/>
              <a:t>One Way</a:t>
            </a:r>
          </a:p>
          <a:p>
            <a:r>
              <a:rPr lang="en-US" altLang="en-US"/>
              <a:t>Fast, Simple</a:t>
            </a:r>
          </a:p>
          <a:p>
            <a:r>
              <a:rPr lang="en-US" altLang="en-US"/>
              <a:t>No guarantee of delivery</a:t>
            </a:r>
          </a:p>
          <a:p>
            <a:r>
              <a:rPr lang="en-US" altLang="en-US"/>
              <a:t>NFS, DNS, DHCP, NTP, TALK</a:t>
            </a:r>
          </a:p>
        </p:txBody>
      </p:sp>
    </p:spTree>
    <p:extLst>
      <p:ext uri="{BB962C8B-B14F-4D97-AF65-F5344CB8AC3E}">
        <p14:creationId xmlns:p14="http://schemas.microsoft.com/office/powerpoint/2010/main" val="3165488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31800" y="762000"/>
            <a:ext cx="8229600" cy="1143000"/>
          </a:xfrm>
          <a:noFill/>
          <a:ln/>
        </p:spPr>
        <p:txBody>
          <a:bodyPr lIns="92075" tIns="46038" rIns="92075" bIns="46038">
            <a:normAutofit/>
          </a:bodyPr>
          <a:lstStyle/>
          <a:p>
            <a:r>
              <a:rPr lang="en-US" altLang="en-US" dirty="0"/>
              <a:t>ICMP (Internet control message protocol)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431800" y="2057400"/>
            <a:ext cx="8229600" cy="4221163"/>
          </a:xfrm>
          <a:noFill/>
          <a:ln/>
        </p:spPr>
        <p:txBody>
          <a:bodyPr lIns="92075" tIns="46038" rIns="92075" bIns="46038"/>
          <a:lstStyle/>
          <a:p>
            <a:r>
              <a:rPr lang="en-US" altLang="en-US" dirty="0"/>
              <a:t>Error  Messages</a:t>
            </a:r>
          </a:p>
          <a:p>
            <a:r>
              <a:rPr lang="en-US" altLang="en-US" dirty="0"/>
              <a:t>Intended for the TCP/IP software itself</a:t>
            </a:r>
          </a:p>
          <a:p>
            <a:r>
              <a:rPr lang="en-US" altLang="en-US" dirty="0"/>
              <a:t>PING  (host unreachable messages)</a:t>
            </a:r>
          </a:p>
          <a:p>
            <a:r>
              <a:rPr lang="en-US" altLang="en-US" dirty="0"/>
              <a:t>Simple Headers</a:t>
            </a:r>
          </a:p>
        </p:txBody>
      </p:sp>
    </p:spTree>
    <p:extLst>
      <p:ext uri="{BB962C8B-B14F-4D97-AF65-F5344CB8AC3E}">
        <p14:creationId xmlns:p14="http://schemas.microsoft.com/office/powerpoint/2010/main" val="2103146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Application Protocols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/>
              <a:t>SMTP: Simple Mail Transport Protocol(IMAP/POP3)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HTTP: Hyper Text Transport Protocol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HTTPS: Hyper Text Transport SSL (Secure)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SNMP: Simple Network Management Protocol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FTP: File Transfer Protocol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Telnet: Interactive login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SSH: Secure Shell telnet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DNS: Domain Name Service</a:t>
            </a:r>
          </a:p>
        </p:txBody>
      </p:sp>
    </p:spTree>
    <p:extLst>
      <p:ext uri="{BB962C8B-B14F-4D97-AF65-F5344CB8AC3E}">
        <p14:creationId xmlns:p14="http://schemas.microsoft.com/office/powerpoint/2010/main" val="3735142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FTP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File Transfer Protocol (TCP)</a:t>
            </a:r>
          </a:p>
          <a:p>
            <a:pPr lvl="1"/>
            <a:r>
              <a:rPr lang="en-US" altLang="en-US" dirty="0"/>
              <a:t>User authentication</a:t>
            </a:r>
          </a:p>
          <a:p>
            <a:pPr lvl="1"/>
            <a:r>
              <a:rPr lang="en-US" altLang="en-US" dirty="0"/>
              <a:t>Anonymous</a:t>
            </a:r>
          </a:p>
          <a:p>
            <a:r>
              <a:rPr lang="en-US" dirty="0"/>
              <a:t>used to transfer computer files between a client and server on a computer network. </a:t>
            </a:r>
            <a:endParaRPr lang="en-US" b="1" dirty="0"/>
          </a:p>
          <a:p>
            <a:r>
              <a:rPr lang="en-US" dirty="0"/>
              <a:t> built on a client-server model architecture and uses separate control and data connections between the client and the server.</a:t>
            </a:r>
          </a:p>
          <a:p>
            <a:r>
              <a:rPr lang="en-US" altLang="en-US" dirty="0"/>
              <a:t>GET/PUT/DEL/CWD</a:t>
            </a:r>
          </a:p>
          <a:p>
            <a:endParaRPr lang="en-US" altLang="en-US" dirty="0"/>
          </a:p>
          <a:p>
            <a:pPr>
              <a:buFontTx/>
              <a:buNone/>
            </a:pPr>
            <a:endParaRPr lang="en-US" altLang="en-US" dirty="0"/>
          </a:p>
          <a:p>
            <a:pPr>
              <a:buFontTx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28665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Client-server is a relationship in which one program, the client, requests a service or resource from another program, the server. The label client-server was previously used to distinguish distributed computing by PCs from the monolithic, centralized computing model used by mainframes.</a:t>
            </a:r>
          </a:p>
          <a:p>
            <a:r>
              <a:rPr lang="en-US" dirty="0"/>
              <a:t>Client –server communicating protocols: HTTP, HTTPS</a:t>
            </a:r>
          </a:p>
        </p:txBody>
      </p:sp>
    </p:spTree>
    <p:extLst>
      <p:ext uri="{BB962C8B-B14F-4D97-AF65-F5344CB8AC3E}">
        <p14:creationId xmlns:p14="http://schemas.microsoft.com/office/powerpoint/2010/main" val="1400953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HTTP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Hyper text Transfer Protocols</a:t>
            </a:r>
          </a:p>
          <a:p>
            <a:r>
              <a:rPr lang="en-US" altLang="en-US" dirty="0"/>
              <a:t>HTTP is a pull protocol, the user pulls information from a remote site.</a:t>
            </a:r>
          </a:p>
          <a:p>
            <a:r>
              <a:rPr lang="en-US" altLang="en-US" dirty="0"/>
              <a:t>Protocol consists of GET and POST commands to transfer data. </a:t>
            </a:r>
          </a:p>
        </p:txBody>
      </p:sp>
    </p:spTree>
    <p:extLst>
      <p:ext uri="{BB962C8B-B14F-4D97-AF65-F5344CB8AC3E}">
        <p14:creationId xmlns:p14="http://schemas.microsoft.com/office/powerpoint/2010/main" val="803530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Secure communication over a computer network</a:t>
            </a:r>
          </a:p>
          <a:p>
            <a:r>
              <a:rPr lang="en-US" dirty="0"/>
              <a:t>HTTPS consists of communication over Hypertext Transfer Protocol (HTTP) within a connection encrypted by Transport Layer Security or its predecessor, Secure Sockets Layer. </a:t>
            </a:r>
          </a:p>
          <a:p>
            <a:r>
              <a:rPr lang="en-US" dirty="0"/>
              <a:t>The main motivation for HTTPS is authentication of the visited website and protection of the privacy and integrity of the exchanged data.</a:t>
            </a:r>
          </a:p>
        </p:txBody>
      </p:sp>
    </p:spTree>
    <p:extLst>
      <p:ext uri="{BB962C8B-B14F-4D97-AF65-F5344CB8AC3E}">
        <p14:creationId xmlns:p14="http://schemas.microsoft.com/office/powerpoint/2010/main" val="2988049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SMTP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altLang="en-US" dirty="0"/>
              <a:t>Simple Mail Transfer Protocol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The protocol is very simple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SMTP is a push protocol, information is pushed to a remote site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Uses port 25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94314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POP3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Post Office Protocol 3</a:t>
            </a:r>
            <a:endParaRPr lang="en-US" dirty="0"/>
          </a:p>
          <a:p>
            <a:r>
              <a:rPr lang="en-US" dirty="0"/>
              <a:t>Most recent version of a standard protocol for receiving e-mail. </a:t>
            </a:r>
            <a:endParaRPr lang="en-US" b="1" dirty="0"/>
          </a:p>
          <a:p>
            <a:r>
              <a:rPr lang="en-US" altLang="en-US" dirty="0"/>
              <a:t>Mail access client</a:t>
            </a:r>
          </a:p>
          <a:p>
            <a:r>
              <a:rPr lang="en-US" altLang="en-US" dirty="0"/>
              <a:t>Uses port 110</a:t>
            </a:r>
          </a:p>
          <a:p>
            <a:r>
              <a:rPr lang="en-US" altLang="en-US" dirty="0"/>
              <a:t>Messages are downloaded to client but can be stored on server.</a:t>
            </a:r>
          </a:p>
          <a:p>
            <a:r>
              <a:rPr lang="en-US" altLang="en-US" dirty="0"/>
              <a:t>Does not easily allow multiple clients</a:t>
            </a:r>
          </a:p>
          <a:p>
            <a:pPr>
              <a:buFontTx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4711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IMAP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Internet Mail Access Protocol</a:t>
            </a:r>
          </a:p>
          <a:p>
            <a:r>
              <a:rPr lang="en-US" altLang="en-US" dirty="0"/>
              <a:t>Improved POP3</a:t>
            </a:r>
          </a:p>
          <a:p>
            <a:r>
              <a:rPr lang="en-US" altLang="en-US" dirty="0"/>
              <a:t>Automatically assigns folders</a:t>
            </a:r>
          </a:p>
          <a:p>
            <a:r>
              <a:rPr lang="en-US" altLang="en-US" dirty="0"/>
              <a:t>Leaves mail on server</a:t>
            </a:r>
          </a:p>
          <a:p>
            <a:r>
              <a:rPr lang="en-US" altLang="en-US" dirty="0"/>
              <a:t>Only transfers as much as needed per message (headers, subject only on list)</a:t>
            </a:r>
          </a:p>
        </p:txBody>
      </p:sp>
    </p:spTree>
    <p:extLst>
      <p:ext uri="{BB962C8B-B14F-4D97-AF65-F5344CB8AC3E}">
        <p14:creationId xmlns:p14="http://schemas.microsoft.com/office/powerpoint/2010/main" val="158503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1"/>
            <a:ext cx="8229600" cy="1143000"/>
          </a:xfrm>
        </p:spPr>
        <p:txBody>
          <a:bodyPr/>
          <a:lstStyle/>
          <a:p>
            <a:r>
              <a:rPr lang="en-US" altLang="en-US" dirty="0"/>
              <a:t>DHCP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0" y="1600201"/>
            <a:ext cx="9144000" cy="43433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If you have a web site, it must be hosted on a computer that is “permanently” on the Web</a:t>
            </a:r>
          </a:p>
          <a:p>
            <a:pPr lvl="1">
              <a:lnSpc>
                <a:spcPct val="90000"/>
              </a:lnSpc>
            </a:pPr>
            <a:r>
              <a:rPr lang="en-US" altLang="en-US" sz="3200" dirty="0"/>
              <a:t>This computer must have a permanent IP address</a:t>
            </a:r>
          </a:p>
          <a:p>
            <a:pPr lvl="1">
              <a:lnSpc>
                <a:spcPct val="90000"/>
              </a:lnSpc>
            </a:pPr>
            <a:r>
              <a:rPr lang="en-US" altLang="en-US" sz="3200" dirty="0"/>
              <a:t>There aren’t enough IP addresses for the number of computers there are these days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If you have no permanent web site, you can be given a </a:t>
            </a:r>
            <a:r>
              <a:rPr lang="en-US" altLang="en-US" i="1" dirty="0"/>
              <a:t>temporary</a:t>
            </a:r>
            <a:r>
              <a:rPr lang="en-US" altLang="en-US" dirty="0"/>
              <a:t> (dynamically allocated) IP address each time you connect to the Web</a:t>
            </a:r>
          </a:p>
        </p:txBody>
      </p:sp>
    </p:spTree>
    <p:extLst>
      <p:ext uri="{BB962C8B-B14F-4D97-AF65-F5344CB8AC3E}">
        <p14:creationId xmlns:p14="http://schemas.microsoft.com/office/powerpoint/2010/main" val="2135151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96335"/>
            <a:ext cx="8229600" cy="1143000"/>
          </a:xfrm>
        </p:spPr>
        <p:txBody>
          <a:bodyPr/>
          <a:lstStyle/>
          <a:p>
            <a:r>
              <a:rPr lang="en-US" altLang="en-US" dirty="0"/>
              <a:t>DHCP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0" y="1371601"/>
            <a:ext cx="9144000" cy="46481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If you have a home or office network, only one computer needs a permanent IP address</a:t>
            </a:r>
          </a:p>
          <a:p>
            <a:pPr lvl="1">
              <a:lnSpc>
                <a:spcPct val="90000"/>
              </a:lnSpc>
            </a:pPr>
            <a:r>
              <a:rPr lang="en-US" altLang="en-US" sz="3200" dirty="0"/>
              <a:t>The rest of the computers can be assigned </a:t>
            </a:r>
            <a:r>
              <a:rPr lang="en-US" altLang="en-US" sz="3200" i="1" dirty="0"/>
              <a:t>internal,</a:t>
            </a:r>
            <a:r>
              <a:rPr lang="en-US" altLang="en-US" sz="3200" dirty="0"/>
              <a:t> permanent IP addresses (not known to the rest of the world)</a:t>
            </a:r>
          </a:p>
          <a:p>
            <a:pPr lvl="1">
              <a:lnSpc>
                <a:spcPct val="90000"/>
              </a:lnSpc>
            </a:pPr>
            <a:r>
              <a:rPr lang="en-US" altLang="en-US" sz="3200" dirty="0"/>
              <a:t>They can also be assigned internal IP addresses dynamically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chemeClr val="tx2"/>
                </a:solidFill>
              </a:rPr>
              <a:t>DHCP</a:t>
            </a:r>
            <a:r>
              <a:rPr lang="en-US" altLang="en-US" dirty="0"/>
              <a:t> (</a:t>
            </a:r>
            <a:r>
              <a:rPr lang="en-US" altLang="en-US" dirty="0">
                <a:solidFill>
                  <a:schemeClr val="tx2"/>
                </a:solidFill>
              </a:rPr>
              <a:t>Dynamic Host Configuration Protocol</a:t>
            </a:r>
            <a:r>
              <a:rPr lang="en-US" altLang="en-US" dirty="0"/>
              <a:t>) is a way of assigning temporary IP addresses as needed</a:t>
            </a:r>
          </a:p>
        </p:txBody>
      </p:sp>
    </p:spTree>
    <p:extLst>
      <p:ext uri="{BB962C8B-B14F-4D97-AF65-F5344CB8AC3E}">
        <p14:creationId xmlns:p14="http://schemas.microsoft.com/office/powerpoint/2010/main" val="775004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Domain Name Service</a:t>
            </a:r>
          </a:p>
          <a:p>
            <a:r>
              <a:rPr lang="en-US" dirty="0"/>
              <a:t>consists of different types of DNS messages that are processed according to the information in their message fields</a:t>
            </a:r>
          </a:p>
          <a:p>
            <a:r>
              <a:rPr lang="en-US" dirty="0"/>
              <a:t>There are three types of DNS messages</a:t>
            </a:r>
          </a:p>
          <a:p>
            <a:pPr lvl="1"/>
            <a:r>
              <a:rPr lang="en-US" dirty="0"/>
              <a:t>Queries</a:t>
            </a:r>
          </a:p>
          <a:p>
            <a:pPr lvl="1"/>
            <a:r>
              <a:rPr lang="en-US" dirty="0"/>
              <a:t>Responses</a:t>
            </a:r>
          </a:p>
          <a:p>
            <a:pPr lvl="1"/>
            <a:r>
              <a:rPr lang="en-US"/>
              <a:t>Updates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907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Address Resolution Protocol </a:t>
            </a:r>
          </a:p>
          <a:p>
            <a:r>
              <a:rPr lang="en-US" dirty="0"/>
              <a:t> Protocol used by the Internet Protocol (IP), specifically IPv4, to map IP network addresses to the hardware addresses used by a data link protocol. </a:t>
            </a:r>
          </a:p>
          <a:p>
            <a:r>
              <a:rPr lang="en-US" dirty="0"/>
              <a:t>The protocol operates below the network layer as a part of the interface between the OSI network and OSI link layer.</a:t>
            </a:r>
          </a:p>
        </p:txBody>
      </p:sp>
    </p:spTree>
    <p:extLst>
      <p:ext uri="{BB962C8B-B14F-4D97-AF65-F5344CB8AC3E}">
        <p14:creationId xmlns:p14="http://schemas.microsoft.com/office/powerpoint/2010/main" val="10789951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RARP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Reverse Address Resolution Protocol</a:t>
            </a:r>
            <a:r>
              <a:rPr lang="en-US" dirty="0"/>
              <a:t> </a:t>
            </a:r>
          </a:p>
          <a:p>
            <a:r>
              <a:rPr lang="en-US" dirty="0"/>
              <a:t>used by a client computer to request its Internet Protocol (IPv4) address from a computer network, when all it has available is its Link Layer or hardware address, such as a MAC address.</a:t>
            </a:r>
          </a:p>
        </p:txBody>
      </p:sp>
    </p:spTree>
    <p:extLst>
      <p:ext uri="{BB962C8B-B14F-4D97-AF65-F5344CB8AC3E}">
        <p14:creationId xmlns:p14="http://schemas.microsoft.com/office/powerpoint/2010/main" val="36570758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 Login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Remote Login is a process in which user can login into remote site i.e. computer and use services that are available on the remote computer. With the help of remote login a user is able to understand result of transferring and result of processing from the remote computer to the local computer.</a:t>
            </a:r>
          </a:p>
        </p:txBody>
      </p:sp>
    </p:spTree>
    <p:extLst>
      <p:ext uri="{BB962C8B-B14F-4D97-AF65-F5344CB8AC3E}">
        <p14:creationId xmlns:p14="http://schemas.microsoft.com/office/powerpoint/2010/main" val="463310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 Login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7312" y="3258344"/>
            <a:ext cx="6429375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6522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User command and an underlying TCP/IP protocol for accessing remote computers.</a:t>
            </a:r>
          </a:p>
          <a:p>
            <a:r>
              <a:rPr lang="en-US" dirty="0"/>
              <a:t> Through </a:t>
            </a:r>
            <a:r>
              <a:rPr lang="en-US" b="1" dirty="0"/>
              <a:t>Telnet</a:t>
            </a:r>
            <a:r>
              <a:rPr lang="en-US" dirty="0"/>
              <a:t>, an administrator or another user can access someone else's computer remotely.</a:t>
            </a:r>
          </a:p>
        </p:txBody>
      </p:sp>
    </p:spTree>
    <p:extLst>
      <p:ext uri="{BB962C8B-B14F-4D97-AF65-F5344CB8AC3E}">
        <p14:creationId xmlns:p14="http://schemas.microsoft.com/office/powerpoint/2010/main" val="21316850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cryptographic network protocol for operating network services securely over an unsecured network.</a:t>
            </a:r>
            <a:endParaRPr lang="en-US" baseline="30000" dirty="0"/>
          </a:p>
          <a:p>
            <a:r>
              <a:rPr lang="en-US" dirty="0"/>
              <a:t>The best known example application is for remote login to computer systems by users.</a:t>
            </a:r>
          </a:p>
        </p:txBody>
      </p:sp>
    </p:spTree>
    <p:extLst>
      <p:ext uri="{BB962C8B-B14F-4D97-AF65-F5344CB8AC3E}">
        <p14:creationId xmlns:p14="http://schemas.microsoft.com/office/powerpoint/2010/main" val="3469238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1041</TotalTime>
  <Words>1045</Words>
  <Application>Microsoft Office PowerPoint</Application>
  <PresentationFormat>On-screen Show (4:3)</PresentationFormat>
  <Paragraphs>117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Trebuchet MS</vt:lpstr>
      <vt:lpstr>Office Theme</vt:lpstr>
      <vt:lpstr>Network Protocols </vt:lpstr>
      <vt:lpstr>Protocols</vt:lpstr>
      <vt:lpstr>TCP/IP</vt:lpstr>
      <vt:lpstr>TCP</vt:lpstr>
      <vt:lpstr>UDP (user datagram protocol)</vt:lpstr>
      <vt:lpstr>ICMP (Internet control message protocol)</vt:lpstr>
      <vt:lpstr>Application Protocols</vt:lpstr>
      <vt:lpstr>FTP</vt:lpstr>
      <vt:lpstr>client-server</vt:lpstr>
      <vt:lpstr>HTTP</vt:lpstr>
      <vt:lpstr>HTTPS</vt:lpstr>
      <vt:lpstr>SMTP</vt:lpstr>
      <vt:lpstr>POP3</vt:lpstr>
      <vt:lpstr>IMAP</vt:lpstr>
      <vt:lpstr>DHCP</vt:lpstr>
      <vt:lpstr>DHCP</vt:lpstr>
      <vt:lpstr>DNS</vt:lpstr>
      <vt:lpstr>ARP</vt:lpstr>
      <vt:lpstr>RARP</vt:lpstr>
      <vt:lpstr>Remote Login</vt:lpstr>
      <vt:lpstr>Remote Login</vt:lpstr>
      <vt:lpstr>Telnet</vt:lpstr>
      <vt:lpstr>SSH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IT2004 – Introduction to Data communication &amp; Networking</dc:title>
  <dc:creator>Nayomi Gamlath</dc:creator>
  <cp:lastModifiedBy>AJM Hasmy</cp:lastModifiedBy>
  <cp:revision>52</cp:revision>
  <dcterms:created xsi:type="dcterms:W3CDTF">2011-10-16T13:11:57Z</dcterms:created>
  <dcterms:modified xsi:type="dcterms:W3CDTF">2025-05-13T03:11:38Z</dcterms:modified>
</cp:coreProperties>
</file>